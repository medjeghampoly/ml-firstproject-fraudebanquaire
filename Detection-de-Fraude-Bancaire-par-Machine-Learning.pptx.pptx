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media/image18.png" Type="http://schemas.openxmlformats.org/officeDocument/2006/relationships/image"/><Relationship Id="rId17" Target="../media/image19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7543800" cy="10287000"/>
            <a:chOff x="0" y="0"/>
            <a:chExt cx="100584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0058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2864348"/>
            <a:ext cx="9445523" cy="2715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Détection de Fraude Bancaire par Machine Learning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5899842"/>
            <a:ext cx="9445523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Pipeline complet sur le dataset ULB Credit Card Fraud — de l'EDA à la calibration, en passant par SMOTE, l'optimisation de seuil et l'interprétabilité SHAP.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050409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Sommaire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455784"/>
            <a:ext cx="567033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4004367"/>
            <a:ext cx="5245446" cy="38100"/>
            <a:chOff x="0" y="0"/>
            <a:chExt cx="6993928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4184152"/>
            <a:ext cx="359777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Problème &amp; Données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730506"/>
            <a:ext cx="5245446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Déséquilibre de classes, métriques adaptées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21206" y="3455784"/>
            <a:ext cx="567033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21206" y="4004367"/>
            <a:ext cx="5245446" cy="38100"/>
            <a:chOff x="0" y="0"/>
            <a:chExt cx="6993928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521206" y="4184152"/>
            <a:ext cx="5245446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Exploration &amp; Feature Engineering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21206" y="5173418"/>
            <a:ext cx="5245446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EDA, corrélations, nouvelles variables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50163" y="3455784"/>
            <a:ext cx="567033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50163" y="4004367"/>
            <a:ext cx="5245446" cy="38100"/>
            <a:chOff x="0" y="0"/>
            <a:chExt cx="6993928" cy="50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050163" y="4184152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Modélisation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50163" y="4730506"/>
            <a:ext cx="5245446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SMOTE, pipeline, comparaison de modèles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6133805"/>
            <a:ext cx="567033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2238" y="6682378"/>
            <a:ext cx="8009934" cy="38100"/>
            <a:chOff x="0" y="0"/>
            <a:chExt cx="10679913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92238" y="6862172"/>
            <a:ext cx="4805658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Évaluation &amp; Interprétabilité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2238" y="7408516"/>
            <a:ext cx="8009934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ROC, PR, calibration, SHAP, dérive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85684" y="6133805"/>
            <a:ext cx="567033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85684" y="6682378"/>
            <a:ext cx="8009934" cy="38100"/>
            <a:chOff x="0" y="0"/>
            <a:chExt cx="10679913" cy="50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285684" y="6862172"/>
            <a:ext cx="3873398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Limites &amp; Perspectives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85684" y="7408516"/>
            <a:ext cx="8009934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MLOps, coûts métier, points d'amélioration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6760" y="875262"/>
            <a:ext cx="16043072" cy="929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2"/>
              </a:lnSpc>
            </a:pPr>
            <a:r>
              <a:rPr lang="en-US" sz="5437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Le Problème : Déséquilibre Extrême des Classes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6760" y="2525611"/>
            <a:ext cx="10379126" cy="6519862"/>
            <a:chOff x="0" y="0"/>
            <a:chExt cx="13838834" cy="869315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838810" cy="8693150"/>
            </a:xfrm>
            <a:custGeom>
              <a:avLst/>
              <a:gdLst/>
              <a:ahLst/>
              <a:cxnLst/>
              <a:rect r="r" b="b" t="t" l="l"/>
              <a:pathLst>
                <a:path h="8693150" w="13838810">
                  <a:moveTo>
                    <a:pt x="0" y="0"/>
                  </a:moveTo>
                  <a:lnTo>
                    <a:pt x="13838810" y="0"/>
                  </a:lnTo>
                  <a:lnTo>
                    <a:pt x="13838810" y="8693150"/>
                  </a:lnTo>
                  <a:lnTo>
                    <a:pt x="0" y="8693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1" r="0" b="-2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046153" y="2553738"/>
            <a:ext cx="5228187" cy="46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Dataset ULB Credit Card Fraud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46153" y="3197866"/>
            <a:ext cx="5274469" cy="294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437"/>
              </a:lnSpc>
              <a:buFont typeface="Arial"/>
              <a:buChar char="•"/>
            </a:pPr>
            <a:r>
              <a:rPr lang="en-US" b="true" sz="2187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284 807 transactions</a:t>
            </a: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sur 2 jours (2013)</a:t>
            </a:r>
          </a:p>
          <a:p>
            <a:pPr algn="l" marL="329902" indent="-164951" lvl="1">
              <a:lnSpc>
                <a:spcPts val="3437"/>
              </a:lnSpc>
              <a:buFont typeface="Arial"/>
              <a:buChar char="•"/>
            </a:pPr>
            <a:r>
              <a:rPr lang="en-US" b="true" sz="2187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492 fraudes</a:t>
            </a: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— soit seulement </a:t>
            </a:r>
            <a:r>
              <a:rPr lang="en-US" b="true" sz="2187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0,17 %</a:t>
            </a: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des cas</a:t>
            </a:r>
          </a:p>
          <a:p>
            <a:pPr algn="l" marL="329902" indent="-164951" lvl="1">
              <a:lnSpc>
                <a:spcPts val="3437"/>
              </a:lnSpc>
              <a:buFont typeface="Arial"/>
              <a:buChar char="•"/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Variables : Time, Amount, V1–V28 (PCA), cible binaire Class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046153" y="6451844"/>
            <a:ext cx="5274469" cy="2502694"/>
            <a:chOff x="0" y="0"/>
            <a:chExt cx="7032625" cy="33369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32625" cy="3336925"/>
            </a:xfrm>
            <a:custGeom>
              <a:avLst/>
              <a:gdLst/>
              <a:ahLst/>
              <a:cxnLst/>
              <a:rect r="r" b="b" t="t" l="l"/>
              <a:pathLst>
                <a:path h="3336925" w="7032625">
                  <a:moveTo>
                    <a:pt x="0" y="156337"/>
                  </a:moveTo>
                  <a:cubicBezTo>
                    <a:pt x="0" y="69977"/>
                    <a:pt x="69977" y="0"/>
                    <a:pt x="156337" y="0"/>
                  </a:cubicBezTo>
                  <a:lnTo>
                    <a:pt x="6876288" y="0"/>
                  </a:lnTo>
                  <a:cubicBezTo>
                    <a:pt x="6962648" y="0"/>
                    <a:pt x="7032625" y="69977"/>
                    <a:pt x="7032625" y="156337"/>
                  </a:cubicBezTo>
                  <a:lnTo>
                    <a:pt x="7032625" y="3180588"/>
                  </a:lnTo>
                  <a:cubicBezTo>
                    <a:pt x="7032625" y="3266948"/>
                    <a:pt x="6962648" y="3336925"/>
                    <a:pt x="6876288" y="3336925"/>
                  </a:cubicBezTo>
                  <a:lnTo>
                    <a:pt x="156337" y="3336925"/>
                  </a:lnTo>
                  <a:cubicBezTo>
                    <a:pt x="69977" y="3336925"/>
                    <a:pt x="0" y="3266948"/>
                    <a:pt x="0" y="3180588"/>
                  </a:cubicBezTo>
                  <a:close/>
                </a:path>
              </a:pathLst>
            </a:custGeom>
            <a:solidFill>
              <a:srgbClr val="4B3F02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325198" y="6880174"/>
            <a:ext cx="348853" cy="279054"/>
            <a:chOff x="0" y="0"/>
            <a:chExt cx="465138" cy="372072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465201" cy="372110"/>
            </a:xfrm>
            <a:custGeom>
              <a:avLst/>
              <a:gdLst/>
              <a:ahLst/>
              <a:cxnLst/>
              <a:rect r="r" b="b" t="t" l="l"/>
              <a:pathLst>
                <a:path h="372110" w="465201">
                  <a:moveTo>
                    <a:pt x="0" y="0"/>
                  </a:moveTo>
                  <a:lnTo>
                    <a:pt x="465201" y="0"/>
                  </a:lnTo>
                  <a:lnTo>
                    <a:pt x="465201" y="372110"/>
                  </a:lnTo>
                  <a:lnTo>
                    <a:pt x="0" y="37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9" t="0" r="-1015" b="1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953105" y="6700990"/>
            <a:ext cx="4088454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L'accuracy seule est trompeuse : un modèle naïf « tout légitime » atteint 99,83 % sans détecter une seule fraude.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253065" y="351682"/>
            <a:ext cx="4267200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Exploration des Données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253065" y="1018584"/>
            <a:ext cx="6237084" cy="9591675"/>
            <a:chOff x="0" y="0"/>
            <a:chExt cx="8316112" cy="127889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8316087" cy="12788900"/>
            </a:xfrm>
            <a:custGeom>
              <a:avLst/>
              <a:gdLst/>
              <a:ahLst/>
              <a:cxnLst/>
              <a:rect r="r" b="b" t="t" l="l"/>
              <a:pathLst>
                <a:path h="12788900" w="8316087">
                  <a:moveTo>
                    <a:pt x="0" y="0"/>
                  </a:moveTo>
                  <a:lnTo>
                    <a:pt x="8316087" y="0"/>
                  </a:lnTo>
                  <a:lnTo>
                    <a:pt x="8316087" y="12788900"/>
                  </a:lnTo>
                  <a:lnTo>
                    <a:pt x="0" y="1278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" t="0" r="-14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845556" y="3321548"/>
            <a:ext cx="2272160" cy="24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Observations clés de l'EDA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45556" y="3613842"/>
            <a:ext cx="3198762" cy="162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0238" indent="-80119" lvl="1">
              <a:lnSpc>
                <a:spcPts val="1312"/>
              </a:lnSpc>
              <a:buFont typeface="Arial"/>
              <a:buChar char="•"/>
            </a:pPr>
            <a:r>
              <a:rPr lang="en-US" b="true" sz="1062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Time</a:t>
            </a:r>
            <a:r>
              <a:rPr lang="en-US" sz="1062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: distribution bimodale — rythme jour/nuit visible</a:t>
            </a:r>
          </a:p>
          <a:p>
            <a:pPr algn="l" marL="160238" indent="-80119" lvl="1">
              <a:lnSpc>
                <a:spcPts val="1312"/>
              </a:lnSpc>
              <a:buFont typeface="Arial"/>
              <a:buChar char="•"/>
            </a:pPr>
            <a:r>
              <a:rPr lang="en-US" b="true" sz="1062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Amount</a:t>
            </a:r>
            <a:r>
              <a:rPr lang="en-US" sz="1062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: très asymétrique à droite → transformation log1p</a:t>
            </a:r>
          </a:p>
          <a:p>
            <a:pPr algn="l" marL="160238" indent="-80119" lvl="1">
              <a:lnSpc>
                <a:spcPts val="1312"/>
              </a:lnSpc>
              <a:buFont typeface="Arial"/>
              <a:buChar char="•"/>
            </a:pPr>
            <a:r>
              <a:rPr lang="en-US" b="true" sz="1062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V12, V14, V17</a:t>
            </a:r>
            <a:r>
              <a:rPr lang="en-US" sz="1062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: distributions nettement différentes entre fraudes et transactions légitimes</a:t>
            </a:r>
          </a:p>
          <a:p>
            <a:pPr algn="l" marL="160238" indent="-80119" lvl="1">
              <a:lnSpc>
                <a:spcPts val="1312"/>
              </a:lnSpc>
              <a:buFont typeface="Arial"/>
              <a:buChar char="•"/>
            </a:pPr>
            <a:r>
              <a:rPr lang="en-US" sz="1062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Tri chronologique strict pour garantir une </a:t>
            </a:r>
            <a:r>
              <a:rPr lang="en-US" b="true" sz="1062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validation temporelle réaliste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845556" y="5317627"/>
            <a:ext cx="3198762" cy="2961684"/>
            <a:chOff x="0" y="0"/>
            <a:chExt cx="4265016" cy="3948913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4265041" cy="3948938"/>
            </a:xfrm>
            <a:custGeom>
              <a:avLst/>
              <a:gdLst/>
              <a:ahLst/>
              <a:cxnLst/>
              <a:rect r="r" b="b" t="t" l="l"/>
              <a:pathLst>
                <a:path h="3948938" w="4265041">
                  <a:moveTo>
                    <a:pt x="0" y="0"/>
                  </a:moveTo>
                  <a:lnTo>
                    <a:pt x="4265041" y="0"/>
                  </a:lnTo>
                  <a:lnTo>
                    <a:pt x="4265041" y="3948938"/>
                  </a:lnTo>
                  <a:lnTo>
                    <a:pt x="0" y="3948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5" t="0" r="-15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744200" y="0"/>
            <a:ext cx="7543800" cy="10287000"/>
            <a:chOff x="0" y="0"/>
            <a:chExt cx="100584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058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1818684"/>
            <a:ext cx="8326041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Pipeline de Modélisation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238" y="3187008"/>
            <a:ext cx="9445523" cy="3544338"/>
            <a:chOff x="0" y="0"/>
            <a:chExt cx="12594031" cy="4725784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2594082" cy="4725797"/>
            </a:xfrm>
            <a:custGeom>
              <a:avLst/>
              <a:gdLst/>
              <a:ahLst/>
              <a:cxnLst/>
              <a:rect r="r" b="b" t="t" l="l"/>
              <a:pathLst>
                <a:path h="4725797" w="12594082">
                  <a:moveTo>
                    <a:pt x="0" y="0"/>
                  </a:moveTo>
                  <a:lnTo>
                    <a:pt x="12594082" y="0"/>
                  </a:lnTo>
                  <a:lnTo>
                    <a:pt x="12594082" y="4725797"/>
                  </a:lnTo>
                  <a:lnTo>
                    <a:pt x="0" y="47257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2" t="0" r="-31" b="0"/>
              </a:stretch>
            </a:blipFill>
          </p:spPr>
        </p:sp>
      </p:grpSp>
      <p:sp>
        <p:nvSpPr>
          <p:cNvPr name="Freeform 13" id="13" descr="preencoded.png"/>
          <p:cNvSpPr/>
          <p:nvPr/>
        </p:nvSpPr>
        <p:spPr>
          <a:xfrm flipH="false" flipV="false" rot="0">
            <a:off x="9058770" y="4089816"/>
            <a:ext cx="487890" cy="487890"/>
          </a:xfrm>
          <a:custGeom>
            <a:avLst/>
            <a:gdLst/>
            <a:ahLst/>
            <a:cxnLst/>
            <a:rect r="r" b="b" t="t" l="l"/>
            <a:pathLst>
              <a:path h="487890" w="487890">
                <a:moveTo>
                  <a:pt x="0" y="0"/>
                </a:moveTo>
                <a:lnTo>
                  <a:pt x="487890" y="0"/>
                </a:lnTo>
                <a:lnTo>
                  <a:pt x="487890" y="487889"/>
                </a:lnTo>
                <a:lnTo>
                  <a:pt x="0" y="4878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37499" r="0" b="-37501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624087" y="5705132"/>
            <a:ext cx="1424645" cy="577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1687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Entraînement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7272623" y="4090730"/>
            <a:ext cx="487890" cy="487890"/>
          </a:xfrm>
          <a:custGeom>
            <a:avLst/>
            <a:gdLst/>
            <a:ahLst/>
            <a:cxnLst/>
            <a:rect r="r" b="b" t="t" l="l"/>
            <a:pathLst>
              <a:path h="487890" w="487890">
                <a:moveTo>
                  <a:pt x="0" y="0"/>
                </a:moveTo>
                <a:lnTo>
                  <a:pt x="487890" y="0"/>
                </a:lnTo>
                <a:lnTo>
                  <a:pt x="487890" y="487890"/>
                </a:lnTo>
                <a:lnTo>
                  <a:pt x="0" y="4878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0577" t="0" r="-10577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828644" y="5705132"/>
            <a:ext cx="1424645" cy="577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1687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SMOTE (train)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5486943" y="4090730"/>
            <a:ext cx="487890" cy="487890"/>
          </a:xfrm>
          <a:custGeom>
            <a:avLst/>
            <a:gdLst/>
            <a:ahLst/>
            <a:cxnLst/>
            <a:rect r="r" b="b" t="t" l="l"/>
            <a:pathLst>
              <a:path h="487890" w="487890">
                <a:moveTo>
                  <a:pt x="0" y="0"/>
                </a:moveTo>
                <a:lnTo>
                  <a:pt x="487889" y="0"/>
                </a:lnTo>
                <a:lnTo>
                  <a:pt x="487889" y="487890"/>
                </a:lnTo>
                <a:lnTo>
                  <a:pt x="0" y="48789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0577" t="0" r="-10577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042954" y="5842349"/>
            <a:ext cx="1424645" cy="303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1687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Standardiser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3701253" y="4090730"/>
            <a:ext cx="487890" cy="487890"/>
          </a:xfrm>
          <a:custGeom>
            <a:avLst/>
            <a:gdLst/>
            <a:ahLst/>
            <a:cxnLst/>
            <a:rect r="r" b="b" t="t" l="l"/>
            <a:pathLst>
              <a:path h="487890" w="487890">
                <a:moveTo>
                  <a:pt x="0" y="0"/>
                </a:moveTo>
                <a:lnTo>
                  <a:pt x="487890" y="0"/>
                </a:lnTo>
                <a:lnTo>
                  <a:pt x="487890" y="487890"/>
                </a:lnTo>
                <a:lnTo>
                  <a:pt x="0" y="48789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4808" t="0" r="-4808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257274" y="5842349"/>
            <a:ext cx="1424645" cy="303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1687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Sélection L1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1905810" y="4090730"/>
            <a:ext cx="487890" cy="487890"/>
          </a:xfrm>
          <a:custGeom>
            <a:avLst/>
            <a:gdLst/>
            <a:ahLst/>
            <a:cxnLst/>
            <a:rect r="r" b="b" t="t" l="l"/>
            <a:pathLst>
              <a:path h="487890" w="487890">
                <a:moveTo>
                  <a:pt x="0" y="0"/>
                </a:moveTo>
                <a:lnTo>
                  <a:pt x="487889" y="0"/>
                </a:lnTo>
                <a:lnTo>
                  <a:pt x="487889" y="487890"/>
                </a:lnTo>
                <a:lnTo>
                  <a:pt x="0" y="48789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4808" r="0" b="-4808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432550" y="5842349"/>
            <a:ext cx="1424645" cy="303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1687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Ingénierie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2238" y="6945516"/>
            <a:ext cx="9445523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SMOTE est appliqué </a:t>
            </a:r>
            <a:r>
              <a:rPr lang="en-US" sz="2187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exclusivement sur le train</a:t>
            </a: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pour éviter toute fuite de données vers le test. Le seuil de décision est optimisé via la courbe précision–rappel selon la fonction de coût </a:t>
            </a:r>
            <a:r>
              <a:rPr lang="en-US" sz="2187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C_FN · FN + C_FP · FP</a:t>
            </a: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36254"/>
            <a:ext cx="10567835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Rééquilibrage : Effet du SMOTE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500885"/>
            <a:ext cx="10355161" cy="4596260"/>
            <a:chOff x="0" y="0"/>
            <a:chExt cx="13806881" cy="612834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806932" cy="6128385"/>
            </a:xfrm>
            <a:custGeom>
              <a:avLst/>
              <a:gdLst/>
              <a:ahLst/>
              <a:cxnLst/>
              <a:rect r="r" b="b" t="t" l="l"/>
              <a:pathLst>
                <a:path h="6128385" w="13806932">
                  <a:moveTo>
                    <a:pt x="0" y="0"/>
                  </a:moveTo>
                  <a:lnTo>
                    <a:pt x="13806932" y="0"/>
                  </a:lnTo>
                  <a:lnTo>
                    <a:pt x="13806932" y="6128385"/>
                  </a:lnTo>
                  <a:lnTo>
                    <a:pt x="0" y="6128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4" r="0" b="-5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048677" y="2349998"/>
            <a:ext cx="3675012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Avant / Après SMOTE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48677" y="3009748"/>
            <a:ext cx="5256457" cy="282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SMOTE (Synthetic Minority Over-sampling Technique) génère des exemples synthétiques de fraude par interpolation dans l'espace des features, équilibrant les classes </a:t>
            </a:r>
            <a:r>
              <a:rPr lang="en-US" sz="2187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uniquement à l'entraînement</a:t>
            </a:r>
            <a:r>
              <a:rPr lang="en-US" sz="21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048677" y="6155236"/>
            <a:ext cx="5256457" cy="3019273"/>
            <a:chOff x="0" y="0"/>
            <a:chExt cx="7008609" cy="40256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08622" cy="4025646"/>
            </a:xfrm>
            <a:custGeom>
              <a:avLst/>
              <a:gdLst/>
              <a:ahLst/>
              <a:cxnLst/>
              <a:rect r="r" b="b" t="t" l="l"/>
              <a:pathLst>
                <a:path h="4025646" w="7008622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849872" y="0"/>
                  </a:lnTo>
                  <a:cubicBezTo>
                    <a:pt x="6937502" y="0"/>
                    <a:pt x="7008622" y="71120"/>
                    <a:pt x="7008622" y="158750"/>
                  </a:cubicBezTo>
                  <a:lnTo>
                    <a:pt x="7008622" y="3866896"/>
                  </a:lnTo>
                  <a:cubicBezTo>
                    <a:pt x="7008622" y="3954526"/>
                    <a:pt x="6937502" y="4025646"/>
                    <a:pt x="6849872" y="4025646"/>
                  </a:cubicBezTo>
                  <a:lnTo>
                    <a:pt x="158750" y="4025646"/>
                  </a:lnTo>
                  <a:cubicBezTo>
                    <a:pt x="71120" y="4025646"/>
                    <a:pt x="0" y="3954526"/>
                    <a:pt x="0" y="3866896"/>
                  </a:cubicBezTo>
                  <a:close/>
                </a:path>
              </a:pathLst>
            </a:custGeom>
            <a:solidFill>
              <a:srgbClr val="02234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332198" y="6594872"/>
            <a:ext cx="354359" cy="283521"/>
            <a:chOff x="0" y="0"/>
            <a:chExt cx="472478" cy="378028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71" r="-8" b="-655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970078" y="6404820"/>
            <a:ext cx="4051544" cy="2372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Le jeu de test conserve la distribution réelle (0,17 % fraudes) pour une évaluation fidèle aux conditions de production.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253065" y="351682"/>
            <a:ext cx="6528940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Résultats — Random Forest Optimisée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253065" y="1018584"/>
            <a:ext cx="6237084" cy="4513364"/>
            <a:chOff x="0" y="0"/>
            <a:chExt cx="8316112" cy="6017819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8316087" cy="6017768"/>
            </a:xfrm>
            <a:custGeom>
              <a:avLst/>
              <a:gdLst/>
              <a:ahLst/>
              <a:cxnLst/>
              <a:rect r="r" b="b" t="t" l="l"/>
              <a:pathLst>
                <a:path h="6017768" w="8316087">
                  <a:moveTo>
                    <a:pt x="0" y="0"/>
                  </a:moveTo>
                  <a:lnTo>
                    <a:pt x="8316087" y="0"/>
                  </a:lnTo>
                  <a:lnTo>
                    <a:pt x="8316087" y="6017768"/>
                  </a:lnTo>
                  <a:lnTo>
                    <a:pt x="0" y="6017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" r="0" b="-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253065" y="5611568"/>
            <a:ext cx="6237084" cy="4387158"/>
            <a:chOff x="0" y="0"/>
            <a:chExt cx="8316112" cy="5849544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8316087" cy="5849493"/>
            </a:xfrm>
            <a:custGeom>
              <a:avLst/>
              <a:gdLst/>
              <a:ahLst/>
              <a:cxnLst/>
              <a:rect r="r" b="b" t="t" l="l"/>
              <a:pathLst>
                <a:path h="5849493" w="8316087">
                  <a:moveTo>
                    <a:pt x="0" y="0"/>
                  </a:moveTo>
                  <a:lnTo>
                    <a:pt x="8316087" y="0"/>
                  </a:lnTo>
                  <a:lnTo>
                    <a:pt x="8316087" y="5849493"/>
                  </a:lnTo>
                  <a:lnTo>
                    <a:pt x="0" y="5849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9" r="0" b="-3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845556" y="4498334"/>
            <a:ext cx="2268436" cy="24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Métriques sur le jeu de test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45556" y="4790627"/>
            <a:ext cx="3198762" cy="869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La courbe ROC monte très rapidement, confirmant un excellent pouvoir discriminant. La courbe PR révèle le vrai compromis : précision quasi parfaite jusqu'à ~75 % de rappel, puis dégradation rapide.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845556" y="5739851"/>
            <a:ext cx="3198762" cy="751132"/>
            <a:chOff x="0" y="0"/>
            <a:chExt cx="4265016" cy="10015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65041" cy="1001522"/>
            </a:xfrm>
            <a:custGeom>
              <a:avLst/>
              <a:gdLst/>
              <a:ahLst/>
              <a:cxnLst/>
              <a:rect r="r" b="b" t="t" l="l"/>
              <a:pathLst>
                <a:path h="1001522" w="4265041">
                  <a:moveTo>
                    <a:pt x="0" y="79375"/>
                  </a:moveTo>
                  <a:cubicBezTo>
                    <a:pt x="0" y="35560"/>
                    <a:pt x="35560" y="0"/>
                    <a:pt x="79375" y="0"/>
                  </a:cubicBezTo>
                  <a:lnTo>
                    <a:pt x="4185666" y="0"/>
                  </a:lnTo>
                  <a:cubicBezTo>
                    <a:pt x="4229481" y="0"/>
                    <a:pt x="4265041" y="35560"/>
                    <a:pt x="4265041" y="79375"/>
                  </a:cubicBezTo>
                  <a:lnTo>
                    <a:pt x="4265041" y="922147"/>
                  </a:lnTo>
                  <a:cubicBezTo>
                    <a:pt x="4265041" y="965962"/>
                    <a:pt x="4229481" y="1001522"/>
                    <a:pt x="4185666" y="1001522"/>
                  </a:cubicBezTo>
                  <a:lnTo>
                    <a:pt x="79375" y="1001522"/>
                  </a:lnTo>
                  <a:cubicBezTo>
                    <a:pt x="35560" y="1001522"/>
                    <a:pt x="0" y="965962"/>
                    <a:pt x="0" y="922147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987240" y="5926341"/>
            <a:ext cx="177108" cy="141684"/>
            <a:chOff x="0" y="0"/>
            <a:chExt cx="236144" cy="188912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236093" cy="188976"/>
            </a:xfrm>
            <a:custGeom>
              <a:avLst/>
              <a:gdLst/>
              <a:ahLst/>
              <a:cxnLst/>
              <a:rect r="r" b="b" t="t" l="l"/>
              <a:pathLst>
                <a:path h="188976" w="236093">
                  <a:moveTo>
                    <a:pt x="0" y="0"/>
                  </a:moveTo>
                  <a:lnTo>
                    <a:pt x="236093" y="0"/>
                  </a:lnTo>
                  <a:lnTo>
                    <a:pt x="236093" y="188976"/>
                  </a:lnTo>
                  <a:lnTo>
                    <a:pt x="0" y="188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67" t="0" r="-688" b="33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306023" y="5827071"/>
            <a:ext cx="2596601" cy="52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Seuil optimal : à insérer depuis model_results.csv — F1, précision, rappel à ce seuil.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248302" y="10153202"/>
            <a:ext cx="4865046" cy="745922"/>
            <a:chOff x="0" y="0"/>
            <a:chExt cx="6486728" cy="99456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" y="6350"/>
              <a:ext cx="6474079" cy="981837"/>
            </a:xfrm>
            <a:custGeom>
              <a:avLst/>
              <a:gdLst/>
              <a:ahLst/>
              <a:cxnLst/>
              <a:rect r="r" b="b" t="t" l="l"/>
              <a:pathLst>
                <a:path h="981837" w="6474079">
                  <a:moveTo>
                    <a:pt x="0" y="79375"/>
                  </a:moveTo>
                  <a:cubicBezTo>
                    <a:pt x="0" y="35560"/>
                    <a:pt x="35941" y="0"/>
                    <a:pt x="80264" y="0"/>
                  </a:cubicBezTo>
                  <a:lnTo>
                    <a:pt x="6393815" y="0"/>
                  </a:lnTo>
                  <a:cubicBezTo>
                    <a:pt x="6438138" y="0"/>
                    <a:pt x="6474079" y="35560"/>
                    <a:pt x="6474079" y="79375"/>
                  </a:cubicBezTo>
                  <a:lnTo>
                    <a:pt x="6474079" y="902462"/>
                  </a:lnTo>
                  <a:cubicBezTo>
                    <a:pt x="6474079" y="946277"/>
                    <a:pt x="6438138" y="981837"/>
                    <a:pt x="6393815" y="981837"/>
                  </a:cubicBezTo>
                  <a:lnTo>
                    <a:pt x="80264" y="981837"/>
                  </a:lnTo>
                  <a:cubicBezTo>
                    <a:pt x="35941" y="981837"/>
                    <a:pt x="0" y="946277"/>
                    <a:pt x="0" y="902462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86779" cy="994537"/>
            </a:xfrm>
            <a:custGeom>
              <a:avLst/>
              <a:gdLst/>
              <a:ahLst/>
              <a:cxnLst/>
              <a:rect r="r" b="b" t="t" l="l"/>
              <a:pathLst>
                <a:path h="994537" w="6486779">
                  <a:moveTo>
                    <a:pt x="0" y="85725"/>
                  </a:moveTo>
                  <a:cubicBezTo>
                    <a:pt x="0" y="38354"/>
                    <a:pt x="38862" y="0"/>
                    <a:pt x="86614" y="0"/>
                  </a:cubicBezTo>
                  <a:lnTo>
                    <a:pt x="6400165" y="0"/>
                  </a:lnTo>
                  <a:lnTo>
                    <a:pt x="6400165" y="6350"/>
                  </a:lnTo>
                  <a:lnTo>
                    <a:pt x="6400165" y="0"/>
                  </a:lnTo>
                  <a:cubicBezTo>
                    <a:pt x="6447917" y="0"/>
                    <a:pt x="6486779" y="38354"/>
                    <a:pt x="6486779" y="85725"/>
                  </a:cubicBezTo>
                  <a:lnTo>
                    <a:pt x="6480429" y="85725"/>
                  </a:lnTo>
                  <a:lnTo>
                    <a:pt x="6486779" y="85725"/>
                  </a:lnTo>
                  <a:lnTo>
                    <a:pt x="6486779" y="908812"/>
                  </a:lnTo>
                  <a:lnTo>
                    <a:pt x="6480429" y="908812"/>
                  </a:lnTo>
                  <a:lnTo>
                    <a:pt x="6486779" y="908812"/>
                  </a:lnTo>
                  <a:cubicBezTo>
                    <a:pt x="6486779" y="956183"/>
                    <a:pt x="6447917" y="994537"/>
                    <a:pt x="6400165" y="994537"/>
                  </a:cubicBezTo>
                  <a:lnTo>
                    <a:pt x="6400165" y="988187"/>
                  </a:lnTo>
                  <a:lnTo>
                    <a:pt x="6400165" y="994537"/>
                  </a:lnTo>
                  <a:lnTo>
                    <a:pt x="86614" y="994537"/>
                  </a:lnTo>
                  <a:lnTo>
                    <a:pt x="86614" y="988187"/>
                  </a:lnTo>
                  <a:lnTo>
                    <a:pt x="86614" y="994537"/>
                  </a:lnTo>
                  <a:cubicBezTo>
                    <a:pt x="38862" y="994537"/>
                    <a:pt x="0" y="956183"/>
                    <a:pt x="0" y="908812"/>
                  </a:cubicBezTo>
                  <a:lnTo>
                    <a:pt x="0" y="85725"/>
                  </a:lnTo>
                  <a:lnTo>
                    <a:pt x="6350" y="85725"/>
                  </a:lnTo>
                  <a:lnTo>
                    <a:pt x="0" y="85725"/>
                  </a:lnTo>
                  <a:moveTo>
                    <a:pt x="12700" y="85725"/>
                  </a:moveTo>
                  <a:lnTo>
                    <a:pt x="12700" y="908812"/>
                  </a:lnTo>
                  <a:lnTo>
                    <a:pt x="6350" y="908812"/>
                  </a:lnTo>
                  <a:lnTo>
                    <a:pt x="12700" y="908812"/>
                  </a:lnTo>
                  <a:cubicBezTo>
                    <a:pt x="12700" y="949071"/>
                    <a:pt x="45720" y="981837"/>
                    <a:pt x="86614" y="981837"/>
                  </a:cubicBezTo>
                  <a:lnTo>
                    <a:pt x="6400165" y="981837"/>
                  </a:lnTo>
                  <a:cubicBezTo>
                    <a:pt x="6441059" y="981837"/>
                    <a:pt x="6474079" y="949071"/>
                    <a:pt x="6474079" y="908812"/>
                  </a:cubicBezTo>
                  <a:lnTo>
                    <a:pt x="6474079" y="85725"/>
                  </a:lnTo>
                  <a:cubicBezTo>
                    <a:pt x="6474079" y="45466"/>
                    <a:pt x="6441059" y="12700"/>
                    <a:pt x="6400165" y="12700"/>
                  </a:cubicBezTo>
                  <a:lnTo>
                    <a:pt x="86614" y="12700"/>
                  </a:lnTo>
                  <a:lnTo>
                    <a:pt x="86614" y="6350"/>
                  </a:lnTo>
                  <a:lnTo>
                    <a:pt x="86614" y="12700"/>
                  </a:lnTo>
                  <a:cubicBezTo>
                    <a:pt x="45720" y="12700"/>
                    <a:pt x="12700" y="45466"/>
                    <a:pt x="12700" y="85725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4404274" y="10290124"/>
            <a:ext cx="1771945" cy="24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AUC-ROC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404274" y="10553995"/>
            <a:ext cx="4553102" cy="189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0,9641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174661" y="10153202"/>
            <a:ext cx="4865046" cy="745922"/>
            <a:chOff x="0" y="0"/>
            <a:chExt cx="6486728" cy="99456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6474079" cy="981837"/>
            </a:xfrm>
            <a:custGeom>
              <a:avLst/>
              <a:gdLst/>
              <a:ahLst/>
              <a:cxnLst/>
              <a:rect r="r" b="b" t="t" l="l"/>
              <a:pathLst>
                <a:path h="981837" w="6474079">
                  <a:moveTo>
                    <a:pt x="0" y="79375"/>
                  </a:moveTo>
                  <a:cubicBezTo>
                    <a:pt x="0" y="35560"/>
                    <a:pt x="35941" y="0"/>
                    <a:pt x="80264" y="0"/>
                  </a:cubicBezTo>
                  <a:lnTo>
                    <a:pt x="6393815" y="0"/>
                  </a:lnTo>
                  <a:cubicBezTo>
                    <a:pt x="6438138" y="0"/>
                    <a:pt x="6474079" y="35560"/>
                    <a:pt x="6474079" y="79375"/>
                  </a:cubicBezTo>
                  <a:lnTo>
                    <a:pt x="6474079" y="902462"/>
                  </a:lnTo>
                  <a:cubicBezTo>
                    <a:pt x="6474079" y="946277"/>
                    <a:pt x="6438138" y="981837"/>
                    <a:pt x="6393815" y="981837"/>
                  </a:cubicBezTo>
                  <a:lnTo>
                    <a:pt x="80264" y="981837"/>
                  </a:lnTo>
                  <a:cubicBezTo>
                    <a:pt x="35941" y="981837"/>
                    <a:pt x="0" y="946277"/>
                    <a:pt x="0" y="902462"/>
                  </a:cubicBez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86779" cy="994537"/>
            </a:xfrm>
            <a:custGeom>
              <a:avLst/>
              <a:gdLst/>
              <a:ahLst/>
              <a:cxnLst/>
              <a:rect r="r" b="b" t="t" l="l"/>
              <a:pathLst>
                <a:path h="994537" w="6486779">
                  <a:moveTo>
                    <a:pt x="0" y="85725"/>
                  </a:moveTo>
                  <a:cubicBezTo>
                    <a:pt x="0" y="38354"/>
                    <a:pt x="38862" y="0"/>
                    <a:pt x="86614" y="0"/>
                  </a:cubicBezTo>
                  <a:lnTo>
                    <a:pt x="6400165" y="0"/>
                  </a:lnTo>
                  <a:lnTo>
                    <a:pt x="6400165" y="6350"/>
                  </a:lnTo>
                  <a:lnTo>
                    <a:pt x="6400165" y="0"/>
                  </a:lnTo>
                  <a:cubicBezTo>
                    <a:pt x="6447917" y="0"/>
                    <a:pt x="6486779" y="38354"/>
                    <a:pt x="6486779" y="85725"/>
                  </a:cubicBezTo>
                  <a:lnTo>
                    <a:pt x="6480429" y="85725"/>
                  </a:lnTo>
                  <a:lnTo>
                    <a:pt x="6486779" y="85725"/>
                  </a:lnTo>
                  <a:lnTo>
                    <a:pt x="6486779" y="908812"/>
                  </a:lnTo>
                  <a:lnTo>
                    <a:pt x="6480429" y="908812"/>
                  </a:lnTo>
                  <a:lnTo>
                    <a:pt x="6486779" y="908812"/>
                  </a:lnTo>
                  <a:cubicBezTo>
                    <a:pt x="6486779" y="956183"/>
                    <a:pt x="6447917" y="994537"/>
                    <a:pt x="6400165" y="994537"/>
                  </a:cubicBezTo>
                  <a:lnTo>
                    <a:pt x="6400165" y="988187"/>
                  </a:lnTo>
                  <a:lnTo>
                    <a:pt x="6400165" y="994537"/>
                  </a:lnTo>
                  <a:lnTo>
                    <a:pt x="86614" y="994537"/>
                  </a:lnTo>
                  <a:lnTo>
                    <a:pt x="86614" y="988187"/>
                  </a:lnTo>
                  <a:lnTo>
                    <a:pt x="86614" y="994537"/>
                  </a:lnTo>
                  <a:cubicBezTo>
                    <a:pt x="38862" y="994537"/>
                    <a:pt x="0" y="956183"/>
                    <a:pt x="0" y="908812"/>
                  </a:cubicBezTo>
                  <a:lnTo>
                    <a:pt x="0" y="85725"/>
                  </a:lnTo>
                  <a:lnTo>
                    <a:pt x="6350" y="85725"/>
                  </a:lnTo>
                  <a:lnTo>
                    <a:pt x="0" y="85725"/>
                  </a:lnTo>
                  <a:moveTo>
                    <a:pt x="12700" y="85725"/>
                  </a:moveTo>
                  <a:lnTo>
                    <a:pt x="12700" y="908812"/>
                  </a:lnTo>
                  <a:lnTo>
                    <a:pt x="6350" y="908812"/>
                  </a:lnTo>
                  <a:lnTo>
                    <a:pt x="12700" y="908812"/>
                  </a:lnTo>
                  <a:cubicBezTo>
                    <a:pt x="12700" y="949071"/>
                    <a:pt x="45720" y="981837"/>
                    <a:pt x="86614" y="981837"/>
                  </a:cubicBezTo>
                  <a:lnTo>
                    <a:pt x="6400165" y="981837"/>
                  </a:lnTo>
                  <a:cubicBezTo>
                    <a:pt x="6441059" y="981837"/>
                    <a:pt x="6474079" y="949071"/>
                    <a:pt x="6474079" y="908812"/>
                  </a:cubicBezTo>
                  <a:lnTo>
                    <a:pt x="6474079" y="85725"/>
                  </a:lnTo>
                  <a:cubicBezTo>
                    <a:pt x="6474079" y="45466"/>
                    <a:pt x="6441059" y="12700"/>
                    <a:pt x="6400165" y="12700"/>
                  </a:cubicBezTo>
                  <a:lnTo>
                    <a:pt x="86614" y="12700"/>
                  </a:lnTo>
                  <a:lnTo>
                    <a:pt x="86614" y="6350"/>
                  </a:lnTo>
                  <a:lnTo>
                    <a:pt x="86614" y="12700"/>
                  </a:lnTo>
                  <a:cubicBezTo>
                    <a:pt x="45720" y="12700"/>
                    <a:pt x="12700" y="45466"/>
                    <a:pt x="12700" y="85725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330633" y="10290124"/>
            <a:ext cx="1771945" cy="24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AP (PR)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30633" y="10553995"/>
            <a:ext cx="4553102" cy="189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0,8214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30326" y="857250"/>
            <a:ext cx="11238605" cy="897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187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Matrice de Confusion &amp; Calibration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30326" y="2473671"/>
            <a:ext cx="8343900" cy="6543675"/>
            <a:chOff x="0" y="0"/>
            <a:chExt cx="11125200" cy="87249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1125200" cy="8724900"/>
            </a:xfrm>
            <a:custGeom>
              <a:avLst/>
              <a:gdLst/>
              <a:ahLst/>
              <a:cxnLst/>
              <a:rect r="r" b="b" t="t" l="l"/>
              <a:pathLst>
                <a:path h="8724900" w="11125200">
                  <a:moveTo>
                    <a:pt x="0" y="0"/>
                  </a:moveTo>
                  <a:lnTo>
                    <a:pt x="11125200" y="0"/>
                  </a:lnTo>
                  <a:lnTo>
                    <a:pt x="11125200" y="8724900"/>
                  </a:lnTo>
                  <a:lnTo>
                    <a:pt x="0" y="872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039009" y="2408482"/>
            <a:ext cx="5328047" cy="4390282"/>
            <a:chOff x="0" y="0"/>
            <a:chExt cx="7104062" cy="5853709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7104126" cy="5853684"/>
            </a:xfrm>
            <a:custGeom>
              <a:avLst/>
              <a:gdLst/>
              <a:ahLst/>
              <a:cxnLst/>
              <a:rect r="r" b="b" t="t" l="l"/>
              <a:pathLst>
                <a:path h="5853684" w="7104126">
                  <a:moveTo>
                    <a:pt x="0" y="0"/>
                  </a:moveTo>
                  <a:lnTo>
                    <a:pt x="7104126" y="0"/>
                  </a:lnTo>
                  <a:lnTo>
                    <a:pt x="7104126" y="5853684"/>
                  </a:lnTo>
                  <a:lnTo>
                    <a:pt x="0" y="585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2" r="0" b="-4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039009" y="7002809"/>
            <a:ext cx="5328047" cy="213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62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Matrice :</a:t>
            </a:r>
            <a:r>
              <a:rPr lang="en-US" sz="2062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56 883 VP légitimes, 4 faux positifs, 19 faux négatifs, 56 VP fraudes. </a:t>
            </a:r>
            <a:r>
              <a:rPr lang="en-US" sz="2062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Calibration :</a:t>
            </a:r>
            <a:r>
              <a:rPr lang="en-US" sz="2062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les probabilités restent concentrées près de 0 — cohérent avec le déséquilibre réel, mais la courbe s'écarte de la diagonale parfaite.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54673" y="665407"/>
            <a:ext cx="11285039" cy="716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4250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Importance des Variables &amp; Interprétabilité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54673" y="1818084"/>
            <a:ext cx="9550603" cy="7578328"/>
            <a:chOff x="0" y="0"/>
            <a:chExt cx="12734138" cy="1010443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2734163" cy="10104501"/>
            </a:xfrm>
            <a:custGeom>
              <a:avLst/>
              <a:gdLst/>
              <a:ahLst/>
              <a:cxnLst/>
              <a:rect r="r" b="b" t="t" l="l"/>
              <a:pathLst>
                <a:path h="10104501" w="12734163">
                  <a:moveTo>
                    <a:pt x="0" y="0"/>
                  </a:moveTo>
                  <a:lnTo>
                    <a:pt x="12734163" y="0"/>
                  </a:lnTo>
                  <a:lnTo>
                    <a:pt x="12734163" y="10104501"/>
                  </a:lnTo>
                  <a:lnTo>
                    <a:pt x="0" y="10104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" r="0" b="-7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744325" y="3078213"/>
            <a:ext cx="3948265" cy="35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25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Top features — Random Forest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44325" y="3554759"/>
            <a:ext cx="4898231" cy="1273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Les variables </a:t>
            </a:r>
            <a:r>
              <a:rPr lang="en-US" sz="1687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V10, V14, V12</a:t>
            </a:r>
            <a:r>
              <a:rPr lang="en-US" sz="16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dominent l'importance Gini, suivies de </a:t>
            </a:r>
            <a:r>
              <a:rPr lang="en-US" sz="1687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V4, V17, V11</a:t>
            </a:r>
            <a:r>
              <a:rPr lang="en-US" sz="16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. Ces composantes PCA anonymisées capturent les patterns comportementaux les plus discriminants.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744325" y="5015655"/>
            <a:ext cx="4898231" cy="2317852"/>
            <a:chOff x="0" y="0"/>
            <a:chExt cx="6530975" cy="30904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30848" cy="3090418"/>
            </a:xfrm>
            <a:custGeom>
              <a:avLst/>
              <a:gdLst/>
              <a:ahLst/>
              <a:cxnLst/>
              <a:rect r="r" b="b" t="t" l="l"/>
              <a:pathLst>
                <a:path h="3090418" w="6530848">
                  <a:moveTo>
                    <a:pt x="0" y="121539"/>
                  </a:moveTo>
                  <a:cubicBezTo>
                    <a:pt x="0" y="54483"/>
                    <a:pt x="54483" y="0"/>
                    <a:pt x="121539" y="0"/>
                  </a:cubicBezTo>
                  <a:lnTo>
                    <a:pt x="6409309" y="0"/>
                  </a:lnTo>
                  <a:cubicBezTo>
                    <a:pt x="6476492" y="0"/>
                    <a:pt x="6530848" y="54483"/>
                    <a:pt x="6530848" y="121539"/>
                  </a:cubicBezTo>
                  <a:lnTo>
                    <a:pt x="6530848" y="2968879"/>
                  </a:lnTo>
                  <a:cubicBezTo>
                    <a:pt x="6530848" y="3036062"/>
                    <a:pt x="6476365" y="3090418"/>
                    <a:pt x="6409309" y="3090418"/>
                  </a:cubicBezTo>
                  <a:lnTo>
                    <a:pt x="121539" y="3090418"/>
                  </a:lnTo>
                  <a:cubicBezTo>
                    <a:pt x="54356" y="3090418"/>
                    <a:pt x="0" y="3035935"/>
                    <a:pt x="0" y="2968879"/>
                  </a:cubicBezTo>
                  <a:close/>
                </a:path>
              </a:pathLst>
            </a:custGeom>
            <a:solidFill>
              <a:srgbClr val="02234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961314" y="5325513"/>
            <a:ext cx="271310" cy="216989"/>
            <a:chOff x="0" y="0"/>
            <a:chExt cx="361747" cy="289319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361696" cy="289306"/>
            </a:xfrm>
            <a:custGeom>
              <a:avLst/>
              <a:gdLst/>
              <a:ahLst/>
              <a:cxnLst/>
              <a:rect r="r" b="b" t="t" l="l"/>
              <a:pathLst>
                <a:path h="289306" w="361696">
                  <a:moveTo>
                    <a:pt x="0" y="0"/>
                  </a:moveTo>
                  <a:lnTo>
                    <a:pt x="361696" y="0"/>
                  </a:lnTo>
                  <a:lnTo>
                    <a:pt x="361696" y="289306"/>
                  </a:lnTo>
                  <a:lnTo>
                    <a:pt x="0" y="289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352" r="-14" b="-136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449623" y="5188296"/>
            <a:ext cx="3975945" cy="1887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SHAP non généré (dépendance pip install shap absente). Pour la version finale : exécuter le notebook complet avec SHAP pour obtenir les valeurs d'attribution individuelles par transaction.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44325" y="7472810"/>
            <a:ext cx="4898231" cy="66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687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Dérive :</a:t>
            </a:r>
            <a:r>
              <a:rPr lang="en-US" sz="1687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 tests KS et PSI calculés par feature entre train et test — résultats dans drift_report.csv.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9217" y="715270"/>
            <a:ext cx="10476014" cy="86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sz="4999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Limites, Perspectives &amp; Questions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9217" y="2128685"/>
            <a:ext cx="3211859" cy="429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Limites identifiées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84930" y="2806303"/>
            <a:ext cx="7959928" cy="2017366"/>
            <a:chOff x="0" y="0"/>
            <a:chExt cx="10613238" cy="26898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9050" y="19050"/>
              <a:ext cx="10575163" cy="2651760"/>
            </a:xfrm>
            <a:custGeom>
              <a:avLst/>
              <a:gdLst/>
              <a:ahLst/>
              <a:cxnLst/>
              <a:rect r="r" b="b" t="t" l="l"/>
              <a:pathLst>
                <a:path h="2651760" w="10575163">
                  <a:moveTo>
                    <a:pt x="0" y="182880"/>
                  </a:moveTo>
                  <a:cubicBezTo>
                    <a:pt x="0" y="81915"/>
                    <a:pt x="82804" y="0"/>
                    <a:pt x="184912" y="0"/>
                  </a:cubicBezTo>
                  <a:lnTo>
                    <a:pt x="10390251" y="0"/>
                  </a:lnTo>
                  <a:cubicBezTo>
                    <a:pt x="10492359" y="0"/>
                    <a:pt x="10575163" y="81915"/>
                    <a:pt x="10575163" y="182880"/>
                  </a:cubicBezTo>
                  <a:lnTo>
                    <a:pt x="10575163" y="2468880"/>
                  </a:lnTo>
                  <a:cubicBezTo>
                    <a:pt x="10575163" y="2569845"/>
                    <a:pt x="10492359" y="2651760"/>
                    <a:pt x="10390251" y="2651760"/>
                  </a:cubicBezTo>
                  <a:lnTo>
                    <a:pt x="184912" y="2651760"/>
                  </a:lnTo>
                  <a:cubicBezTo>
                    <a:pt x="82804" y="2651760"/>
                    <a:pt x="0" y="2569845"/>
                    <a:pt x="0" y="2468880"/>
                  </a:cubicBez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13263" cy="2689860"/>
            </a:xfrm>
            <a:custGeom>
              <a:avLst/>
              <a:gdLst/>
              <a:ahLst/>
              <a:cxnLst/>
              <a:rect r="r" b="b" t="t" l="l"/>
              <a:pathLst>
                <a:path h="2689860" w="10613263">
                  <a:moveTo>
                    <a:pt x="0" y="201930"/>
                  </a:moveTo>
                  <a:cubicBezTo>
                    <a:pt x="0" y="90170"/>
                    <a:pt x="91440" y="0"/>
                    <a:pt x="203962" y="0"/>
                  </a:cubicBezTo>
                  <a:lnTo>
                    <a:pt x="10409301" y="0"/>
                  </a:lnTo>
                  <a:lnTo>
                    <a:pt x="10409301" y="19050"/>
                  </a:lnTo>
                  <a:lnTo>
                    <a:pt x="10409301" y="0"/>
                  </a:lnTo>
                  <a:cubicBezTo>
                    <a:pt x="10521696" y="0"/>
                    <a:pt x="10613263" y="90170"/>
                    <a:pt x="10613263" y="201930"/>
                  </a:cubicBezTo>
                  <a:lnTo>
                    <a:pt x="10594213" y="201930"/>
                  </a:lnTo>
                  <a:lnTo>
                    <a:pt x="10613263" y="201930"/>
                  </a:lnTo>
                  <a:lnTo>
                    <a:pt x="10613263" y="2487930"/>
                  </a:lnTo>
                  <a:lnTo>
                    <a:pt x="10594213" y="2487930"/>
                  </a:lnTo>
                  <a:lnTo>
                    <a:pt x="10613263" y="2487930"/>
                  </a:lnTo>
                  <a:cubicBezTo>
                    <a:pt x="10613263" y="2599690"/>
                    <a:pt x="10521823" y="2689860"/>
                    <a:pt x="10409301" y="2689860"/>
                  </a:cubicBezTo>
                  <a:lnTo>
                    <a:pt x="10409301" y="2670810"/>
                  </a:lnTo>
                  <a:lnTo>
                    <a:pt x="10409301" y="2689860"/>
                  </a:lnTo>
                  <a:lnTo>
                    <a:pt x="203962" y="2689860"/>
                  </a:lnTo>
                  <a:lnTo>
                    <a:pt x="203962" y="2670810"/>
                  </a:lnTo>
                  <a:lnTo>
                    <a:pt x="203962" y="2689860"/>
                  </a:lnTo>
                  <a:cubicBezTo>
                    <a:pt x="91440" y="2689860"/>
                    <a:pt x="0" y="2599563"/>
                    <a:pt x="0" y="2487930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487930"/>
                  </a:lnTo>
                  <a:lnTo>
                    <a:pt x="19050" y="2487930"/>
                  </a:lnTo>
                  <a:lnTo>
                    <a:pt x="38100" y="2487930"/>
                  </a:lnTo>
                  <a:cubicBezTo>
                    <a:pt x="38100" y="2578227"/>
                    <a:pt x="112141" y="2651760"/>
                    <a:pt x="203962" y="2651760"/>
                  </a:cubicBezTo>
                  <a:lnTo>
                    <a:pt x="10409301" y="2651760"/>
                  </a:lnTo>
                  <a:cubicBezTo>
                    <a:pt x="10501122" y="2651760"/>
                    <a:pt x="10575163" y="2578227"/>
                    <a:pt x="10575163" y="2487930"/>
                  </a:cubicBezTo>
                  <a:lnTo>
                    <a:pt x="10575163" y="201930"/>
                  </a:lnTo>
                  <a:cubicBezTo>
                    <a:pt x="10575163" y="111633"/>
                    <a:pt x="10501122" y="38100"/>
                    <a:pt x="10409301" y="38100"/>
                  </a:cubicBezTo>
                  <a:lnTo>
                    <a:pt x="203962" y="38100"/>
                  </a:lnTo>
                  <a:lnTo>
                    <a:pt x="203962" y="19050"/>
                  </a:lnTo>
                  <a:lnTo>
                    <a:pt x="203962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70642" y="2820591"/>
            <a:ext cx="114300" cy="1988791"/>
            <a:chOff x="0" y="0"/>
            <a:chExt cx="152400" cy="26517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400" cy="2651760"/>
            </a:xfrm>
            <a:custGeom>
              <a:avLst/>
              <a:gdLst/>
              <a:ahLst/>
              <a:cxnLst/>
              <a:rect r="r" b="b" t="t" l="l"/>
              <a:pathLst>
                <a:path h="265176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575560"/>
                  </a:lnTo>
                  <a:cubicBezTo>
                    <a:pt x="152400" y="2617597"/>
                    <a:pt x="118237" y="2651760"/>
                    <a:pt x="76200" y="2651760"/>
                  </a:cubicBezTo>
                  <a:cubicBezTo>
                    <a:pt x="34163" y="2651760"/>
                    <a:pt x="0" y="2617597"/>
                    <a:pt x="0" y="25755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70397" y="3077470"/>
            <a:ext cx="3211859" cy="429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Données 2013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0397" y="3673526"/>
            <a:ext cx="7274719" cy="850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Patterns de fraude potentiellement obsolètes — nécessité de re-entraîner régulièrement.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84930" y="5027857"/>
            <a:ext cx="7959928" cy="2017366"/>
            <a:chOff x="0" y="0"/>
            <a:chExt cx="10613238" cy="26898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9050" y="19050"/>
              <a:ext cx="10575163" cy="2651760"/>
            </a:xfrm>
            <a:custGeom>
              <a:avLst/>
              <a:gdLst/>
              <a:ahLst/>
              <a:cxnLst/>
              <a:rect r="r" b="b" t="t" l="l"/>
              <a:pathLst>
                <a:path h="2651760" w="10575163">
                  <a:moveTo>
                    <a:pt x="0" y="182880"/>
                  </a:moveTo>
                  <a:cubicBezTo>
                    <a:pt x="0" y="81915"/>
                    <a:pt x="82804" y="0"/>
                    <a:pt x="184912" y="0"/>
                  </a:cubicBezTo>
                  <a:lnTo>
                    <a:pt x="10390251" y="0"/>
                  </a:lnTo>
                  <a:cubicBezTo>
                    <a:pt x="10492359" y="0"/>
                    <a:pt x="10575163" y="81915"/>
                    <a:pt x="10575163" y="182880"/>
                  </a:cubicBezTo>
                  <a:lnTo>
                    <a:pt x="10575163" y="2468880"/>
                  </a:lnTo>
                  <a:cubicBezTo>
                    <a:pt x="10575163" y="2569845"/>
                    <a:pt x="10492359" y="2651760"/>
                    <a:pt x="10390251" y="2651760"/>
                  </a:cubicBezTo>
                  <a:lnTo>
                    <a:pt x="184912" y="2651760"/>
                  </a:lnTo>
                  <a:cubicBezTo>
                    <a:pt x="82804" y="2651760"/>
                    <a:pt x="0" y="2569845"/>
                    <a:pt x="0" y="2468880"/>
                  </a:cubicBez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13263" cy="2689860"/>
            </a:xfrm>
            <a:custGeom>
              <a:avLst/>
              <a:gdLst/>
              <a:ahLst/>
              <a:cxnLst/>
              <a:rect r="r" b="b" t="t" l="l"/>
              <a:pathLst>
                <a:path h="2689860" w="10613263">
                  <a:moveTo>
                    <a:pt x="0" y="201930"/>
                  </a:moveTo>
                  <a:cubicBezTo>
                    <a:pt x="0" y="90170"/>
                    <a:pt x="91440" y="0"/>
                    <a:pt x="203962" y="0"/>
                  </a:cubicBezTo>
                  <a:lnTo>
                    <a:pt x="10409301" y="0"/>
                  </a:lnTo>
                  <a:lnTo>
                    <a:pt x="10409301" y="19050"/>
                  </a:lnTo>
                  <a:lnTo>
                    <a:pt x="10409301" y="0"/>
                  </a:lnTo>
                  <a:cubicBezTo>
                    <a:pt x="10521696" y="0"/>
                    <a:pt x="10613263" y="90170"/>
                    <a:pt x="10613263" y="201930"/>
                  </a:cubicBezTo>
                  <a:lnTo>
                    <a:pt x="10594213" y="201930"/>
                  </a:lnTo>
                  <a:lnTo>
                    <a:pt x="10613263" y="201930"/>
                  </a:lnTo>
                  <a:lnTo>
                    <a:pt x="10613263" y="2487930"/>
                  </a:lnTo>
                  <a:lnTo>
                    <a:pt x="10594213" y="2487930"/>
                  </a:lnTo>
                  <a:lnTo>
                    <a:pt x="10613263" y="2487930"/>
                  </a:lnTo>
                  <a:cubicBezTo>
                    <a:pt x="10613263" y="2599690"/>
                    <a:pt x="10521823" y="2689860"/>
                    <a:pt x="10409301" y="2689860"/>
                  </a:cubicBezTo>
                  <a:lnTo>
                    <a:pt x="10409301" y="2670810"/>
                  </a:lnTo>
                  <a:lnTo>
                    <a:pt x="10409301" y="2689860"/>
                  </a:lnTo>
                  <a:lnTo>
                    <a:pt x="203962" y="2689860"/>
                  </a:lnTo>
                  <a:lnTo>
                    <a:pt x="203962" y="2670810"/>
                  </a:lnTo>
                  <a:lnTo>
                    <a:pt x="203962" y="2689860"/>
                  </a:lnTo>
                  <a:cubicBezTo>
                    <a:pt x="91440" y="2689860"/>
                    <a:pt x="0" y="2599563"/>
                    <a:pt x="0" y="2487930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487930"/>
                  </a:lnTo>
                  <a:lnTo>
                    <a:pt x="19050" y="2487930"/>
                  </a:lnTo>
                  <a:lnTo>
                    <a:pt x="38100" y="2487930"/>
                  </a:lnTo>
                  <a:cubicBezTo>
                    <a:pt x="38100" y="2578227"/>
                    <a:pt x="112141" y="2651760"/>
                    <a:pt x="203962" y="2651760"/>
                  </a:cubicBezTo>
                  <a:lnTo>
                    <a:pt x="10409301" y="2651760"/>
                  </a:lnTo>
                  <a:cubicBezTo>
                    <a:pt x="10501122" y="2651760"/>
                    <a:pt x="10575163" y="2578227"/>
                    <a:pt x="10575163" y="2487930"/>
                  </a:cubicBezTo>
                  <a:lnTo>
                    <a:pt x="10575163" y="201930"/>
                  </a:lnTo>
                  <a:cubicBezTo>
                    <a:pt x="10575163" y="111633"/>
                    <a:pt x="10501122" y="38100"/>
                    <a:pt x="10409301" y="38100"/>
                  </a:cubicBezTo>
                  <a:lnTo>
                    <a:pt x="203962" y="38100"/>
                  </a:lnTo>
                  <a:lnTo>
                    <a:pt x="203962" y="19050"/>
                  </a:lnTo>
                  <a:lnTo>
                    <a:pt x="203962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70642" y="5042144"/>
            <a:ext cx="114300" cy="1988791"/>
            <a:chOff x="0" y="0"/>
            <a:chExt cx="152400" cy="265172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2400" cy="2651760"/>
            </a:xfrm>
            <a:custGeom>
              <a:avLst/>
              <a:gdLst/>
              <a:ahLst/>
              <a:cxnLst/>
              <a:rect r="r" b="b" t="t" l="l"/>
              <a:pathLst>
                <a:path h="265176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575560"/>
                  </a:lnTo>
                  <a:cubicBezTo>
                    <a:pt x="152400" y="2617597"/>
                    <a:pt x="118237" y="2651760"/>
                    <a:pt x="76200" y="2651760"/>
                  </a:cubicBezTo>
                  <a:cubicBezTo>
                    <a:pt x="34163" y="2651760"/>
                    <a:pt x="0" y="2617597"/>
                    <a:pt x="0" y="25755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70397" y="5299024"/>
            <a:ext cx="3211859" cy="429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PCA anonymisée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0397" y="5895080"/>
            <a:ext cx="7274719" cy="850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Interprétabilité métier limitée — impossible de relier V1–V28 à des variables transactionnelles réelles.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84930" y="7249420"/>
            <a:ext cx="7959928" cy="2017366"/>
            <a:chOff x="0" y="0"/>
            <a:chExt cx="10613238" cy="268982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9050" y="19050"/>
              <a:ext cx="10575163" cy="2651760"/>
            </a:xfrm>
            <a:custGeom>
              <a:avLst/>
              <a:gdLst/>
              <a:ahLst/>
              <a:cxnLst/>
              <a:rect r="r" b="b" t="t" l="l"/>
              <a:pathLst>
                <a:path h="2651760" w="10575163">
                  <a:moveTo>
                    <a:pt x="0" y="182880"/>
                  </a:moveTo>
                  <a:cubicBezTo>
                    <a:pt x="0" y="81915"/>
                    <a:pt x="82804" y="0"/>
                    <a:pt x="184912" y="0"/>
                  </a:cubicBezTo>
                  <a:lnTo>
                    <a:pt x="10390251" y="0"/>
                  </a:lnTo>
                  <a:cubicBezTo>
                    <a:pt x="10492359" y="0"/>
                    <a:pt x="10575163" y="81915"/>
                    <a:pt x="10575163" y="182880"/>
                  </a:cubicBezTo>
                  <a:lnTo>
                    <a:pt x="10575163" y="2468880"/>
                  </a:lnTo>
                  <a:cubicBezTo>
                    <a:pt x="10575163" y="2569845"/>
                    <a:pt x="10492359" y="2651760"/>
                    <a:pt x="10390251" y="2651760"/>
                  </a:cubicBezTo>
                  <a:lnTo>
                    <a:pt x="184912" y="2651760"/>
                  </a:lnTo>
                  <a:cubicBezTo>
                    <a:pt x="82804" y="2651760"/>
                    <a:pt x="0" y="2569845"/>
                    <a:pt x="0" y="2468880"/>
                  </a:cubicBezTo>
                  <a:close/>
                </a:path>
              </a:pathLst>
            </a:custGeom>
            <a:solidFill>
              <a:srgbClr val="181616">
                <a:alpha val="90196"/>
              </a:srgbClr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13263" cy="2689860"/>
            </a:xfrm>
            <a:custGeom>
              <a:avLst/>
              <a:gdLst/>
              <a:ahLst/>
              <a:cxnLst/>
              <a:rect r="r" b="b" t="t" l="l"/>
              <a:pathLst>
                <a:path h="2689860" w="10613263">
                  <a:moveTo>
                    <a:pt x="0" y="201930"/>
                  </a:moveTo>
                  <a:cubicBezTo>
                    <a:pt x="0" y="90170"/>
                    <a:pt x="91440" y="0"/>
                    <a:pt x="203962" y="0"/>
                  </a:cubicBezTo>
                  <a:lnTo>
                    <a:pt x="10409301" y="0"/>
                  </a:lnTo>
                  <a:lnTo>
                    <a:pt x="10409301" y="19050"/>
                  </a:lnTo>
                  <a:lnTo>
                    <a:pt x="10409301" y="0"/>
                  </a:lnTo>
                  <a:cubicBezTo>
                    <a:pt x="10521696" y="0"/>
                    <a:pt x="10613263" y="90170"/>
                    <a:pt x="10613263" y="201930"/>
                  </a:cubicBezTo>
                  <a:lnTo>
                    <a:pt x="10594213" y="201930"/>
                  </a:lnTo>
                  <a:lnTo>
                    <a:pt x="10613263" y="201930"/>
                  </a:lnTo>
                  <a:lnTo>
                    <a:pt x="10613263" y="2487930"/>
                  </a:lnTo>
                  <a:lnTo>
                    <a:pt x="10594213" y="2487930"/>
                  </a:lnTo>
                  <a:lnTo>
                    <a:pt x="10613263" y="2487930"/>
                  </a:lnTo>
                  <a:cubicBezTo>
                    <a:pt x="10613263" y="2599690"/>
                    <a:pt x="10521823" y="2689860"/>
                    <a:pt x="10409301" y="2689860"/>
                  </a:cubicBezTo>
                  <a:lnTo>
                    <a:pt x="10409301" y="2670810"/>
                  </a:lnTo>
                  <a:lnTo>
                    <a:pt x="10409301" y="2689860"/>
                  </a:lnTo>
                  <a:lnTo>
                    <a:pt x="203962" y="2689860"/>
                  </a:lnTo>
                  <a:lnTo>
                    <a:pt x="203962" y="2670810"/>
                  </a:lnTo>
                  <a:lnTo>
                    <a:pt x="203962" y="2689860"/>
                  </a:lnTo>
                  <a:cubicBezTo>
                    <a:pt x="91440" y="2689860"/>
                    <a:pt x="0" y="2599563"/>
                    <a:pt x="0" y="2487930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487930"/>
                  </a:lnTo>
                  <a:lnTo>
                    <a:pt x="19050" y="2487930"/>
                  </a:lnTo>
                  <a:lnTo>
                    <a:pt x="38100" y="2487930"/>
                  </a:lnTo>
                  <a:cubicBezTo>
                    <a:pt x="38100" y="2578227"/>
                    <a:pt x="112141" y="2651760"/>
                    <a:pt x="203962" y="2651760"/>
                  </a:cubicBezTo>
                  <a:lnTo>
                    <a:pt x="10409301" y="2651760"/>
                  </a:lnTo>
                  <a:cubicBezTo>
                    <a:pt x="10501122" y="2651760"/>
                    <a:pt x="10575163" y="2578227"/>
                    <a:pt x="10575163" y="2487930"/>
                  </a:cubicBezTo>
                  <a:lnTo>
                    <a:pt x="10575163" y="201930"/>
                  </a:lnTo>
                  <a:cubicBezTo>
                    <a:pt x="10575163" y="111633"/>
                    <a:pt x="10501122" y="38100"/>
                    <a:pt x="10409301" y="38100"/>
                  </a:cubicBezTo>
                  <a:lnTo>
                    <a:pt x="203962" y="38100"/>
                  </a:lnTo>
                  <a:lnTo>
                    <a:pt x="203962" y="19050"/>
                  </a:lnTo>
                  <a:lnTo>
                    <a:pt x="203962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59595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70642" y="7263708"/>
            <a:ext cx="114300" cy="1988791"/>
            <a:chOff x="0" y="0"/>
            <a:chExt cx="152400" cy="265172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2400" cy="2651760"/>
            </a:xfrm>
            <a:custGeom>
              <a:avLst/>
              <a:gdLst/>
              <a:ahLst/>
              <a:cxnLst/>
              <a:rect r="r" b="b" t="t" l="l"/>
              <a:pathLst>
                <a:path h="265176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575560"/>
                  </a:lnTo>
                  <a:cubicBezTo>
                    <a:pt x="152400" y="2617597"/>
                    <a:pt x="118237" y="2651760"/>
                    <a:pt x="76200" y="2651760"/>
                  </a:cubicBezTo>
                  <a:cubicBezTo>
                    <a:pt x="34163" y="2651760"/>
                    <a:pt x="0" y="2617597"/>
                    <a:pt x="0" y="25755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70397" y="7520578"/>
            <a:ext cx="3438525" cy="429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Calibration imparfaite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0397" y="8116643"/>
            <a:ext cx="7274719" cy="850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Les probabilités brutes ne reflètent pas fidèlement les taux de fraude réels — Platt scaling ou isotonic regression à envisager.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66955" y="2128685"/>
            <a:ext cx="6031116" cy="429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DDDDDD"/>
                </a:solidFill>
                <a:latin typeface="Arimo Bold"/>
                <a:ea typeface="Arimo Bold"/>
                <a:cs typeface="Arimo Bold"/>
                <a:sym typeface="Arimo Bold"/>
              </a:rPr>
              <a:t>Perspectives &amp; Questions types du jury</a:t>
            </a:r>
          </a:p>
        </p:txBody>
      </p:sp>
      <p:sp>
        <p:nvSpPr>
          <p:cNvPr name="Freeform 30" id="30" descr="preencoded.png"/>
          <p:cNvSpPr/>
          <p:nvPr/>
        </p:nvSpPr>
        <p:spPr>
          <a:xfrm flipH="false" flipV="false" rot="0">
            <a:off x="9563252" y="2828477"/>
            <a:ext cx="385315" cy="385315"/>
          </a:xfrm>
          <a:custGeom>
            <a:avLst/>
            <a:gdLst/>
            <a:ahLst/>
            <a:cxnLst/>
            <a:rect r="r" b="b" t="t" l="l"/>
            <a:pathLst>
              <a:path h="385315" w="385315">
                <a:moveTo>
                  <a:pt x="0" y="0"/>
                </a:moveTo>
                <a:lnTo>
                  <a:pt x="385315" y="0"/>
                </a:lnTo>
                <a:lnTo>
                  <a:pt x="385315" y="385315"/>
                </a:lnTo>
                <a:lnTo>
                  <a:pt x="0" y="385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535" t="0" r="-8538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0301878" y="2792016"/>
            <a:ext cx="2985192" cy="429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MLOps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301878" y="3388071"/>
            <a:ext cx="2985192" cy="2025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Déploiement continu, monitoring de dérive en production, réentraînement automatisé.</a:t>
            </a:r>
          </a:p>
        </p:txBody>
      </p:sp>
      <p:sp>
        <p:nvSpPr>
          <p:cNvPr name="Freeform 33" id="33" descr="preencoded.png"/>
          <p:cNvSpPr/>
          <p:nvPr/>
        </p:nvSpPr>
        <p:spPr>
          <a:xfrm flipH="false" flipV="false" rot="0">
            <a:off x="13674328" y="2828477"/>
            <a:ext cx="385315" cy="385315"/>
          </a:xfrm>
          <a:custGeom>
            <a:avLst/>
            <a:gdLst/>
            <a:ahLst/>
            <a:cxnLst/>
            <a:rect r="r" b="b" t="t" l="l"/>
            <a:pathLst>
              <a:path h="385315" w="385315">
                <a:moveTo>
                  <a:pt x="0" y="0"/>
                </a:moveTo>
                <a:lnTo>
                  <a:pt x="385315" y="0"/>
                </a:lnTo>
                <a:lnTo>
                  <a:pt x="385315" y="385315"/>
                </a:lnTo>
                <a:lnTo>
                  <a:pt x="0" y="385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535" t="0" r="-8538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4412963" y="2792016"/>
            <a:ext cx="2985345" cy="429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Coûts métier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412963" y="3388071"/>
            <a:ext cx="2985345" cy="2809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Pourquoi ce seuil ? → Minimisation de C_FN·FN + C_FP·FP selon les coûts réels de faux négatifs (fraude non détectée) vs faux positifs (client bloqué injustement).</a:t>
            </a:r>
          </a:p>
        </p:txBody>
      </p:sp>
      <p:sp>
        <p:nvSpPr>
          <p:cNvPr name="Freeform 36" id="36" descr="preencoded.png"/>
          <p:cNvSpPr/>
          <p:nvPr/>
        </p:nvSpPr>
        <p:spPr>
          <a:xfrm flipH="false" flipV="false" rot="0">
            <a:off x="9563252" y="6671367"/>
            <a:ext cx="385315" cy="385315"/>
          </a:xfrm>
          <a:custGeom>
            <a:avLst/>
            <a:gdLst/>
            <a:ahLst/>
            <a:cxnLst/>
            <a:rect r="r" b="b" t="t" l="l"/>
            <a:pathLst>
              <a:path h="385315" w="385315">
                <a:moveTo>
                  <a:pt x="0" y="0"/>
                </a:moveTo>
                <a:lnTo>
                  <a:pt x="385315" y="0"/>
                </a:lnTo>
                <a:lnTo>
                  <a:pt x="385315" y="385315"/>
                </a:lnTo>
                <a:lnTo>
                  <a:pt x="0" y="385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535" t="0" r="-8538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0301878" y="6634905"/>
            <a:ext cx="3949903" cy="429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8F8F8F"/>
                </a:solidFill>
                <a:latin typeface="Arimo Bold"/>
                <a:ea typeface="Arimo Bold"/>
                <a:cs typeface="Arimo Bold"/>
                <a:sym typeface="Arimo Bold"/>
              </a:rPr>
              <a:t>Pourquoi pas l'accuracy ?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301878" y="7230961"/>
            <a:ext cx="7096420" cy="124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8F8F8F"/>
                </a:solidFill>
                <a:latin typeface="Arimo"/>
                <a:ea typeface="Arimo"/>
                <a:cs typeface="Arimo"/>
                <a:sym typeface="Arimo"/>
              </a:rPr>
              <a:t>Un modèle trivial atteint 99,83 % en prédisant toujours « légitime » — on préfère F1, AP et AUC-PR pour les classes rares.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DAHHGZpfm4M</dc:identifier>
  <dcterms:modified xsi:type="dcterms:W3CDTF">2011-08-01T06:04:30Z</dcterms:modified>
  <cp:revision>1</cp:revision>
  <dc:title>Detection-de-Fraude-Bancaire-par-Machine-Learning.pptx</dc:title>
</cp:coreProperties>
</file>